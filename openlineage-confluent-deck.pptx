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1CEDB"/>
                </a:solidFill>
                <a:latin typeface="Inter"/>
              </a:rPr>
              <a:t>CONFLUENT  ·  OPENLINEAGE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Inter"/>
              </a:rPr>
              <a:t>End-to-End Data Lineage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01CEDB"/>
                </a:solidFill>
                <a:latin typeface="Inter"/>
              </a:rPr>
              <a:t>for Confluent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6F7F7"/>
                </a:solidFill>
                <a:latin typeface="Inter"/>
              </a:rPr>
              <a:t>A bridge that translates every Confluent component — managed connectors, Flink statements, ksqlDB queries, consumer groups, and self-managed Connect — into the open OpenLineage standard.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1CEDB"/>
                </a:solidFill>
                <a:latin typeface="Inter"/>
              </a:rPr>
              <a:t>Managed Connectors  ·  Apache Flink  ·  ksqlDB  ·  Consumer Groups  ·  Self-Managed Connect  ·  Schema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The Data Lineage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Modern data platforms are built on Kafka — but lineage stops at the topic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297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800" cy="1554480"/>
          </a:xfrm>
          <a:prstGeom prst="rect">
            <a:avLst/>
          </a:prstGeom>
          <a:solidFill>
            <a:srgbClr val="AE1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" y="1755140"/>
            <a:ext cx="411988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Lineage Blind Spots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Managed connectors, Flink jobs, and ksqlDB queries each live in separate control planes with no shared lineage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691640"/>
            <a:ext cx="4297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691640"/>
            <a:ext cx="50800" cy="1554480"/>
          </a:xfrm>
          <a:prstGeom prst="rect">
            <a:avLst/>
          </a:prstGeom>
          <a:solidFill>
            <a:srgbClr val="AE1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0620" y="1755140"/>
            <a:ext cx="411988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Disconnected Islands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A message flowing from a DatagenSource → Flink → HTTP Sink spans three systems with zero automatic end-to-end tracing.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55848"/>
            <a:ext cx="4297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55848"/>
            <a:ext cx="50800" cy="155448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" y="3419348"/>
            <a:ext cx="411988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No Standard Format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Each Confluent API returns a different shape. There is no single output format consumable by downstream governance tools.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355848"/>
            <a:ext cx="4297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355848"/>
            <a:ext cx="50800" cy="155448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0620" y="3419348"/>
            <a:ext cx="411988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Hidden Producer Identity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Kafka producers (Java clients, microservices) leave no fingerprint at the broker level — making self-service lineage impossible.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OpenLineage: The Universal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A vendor-neutral, open specification for capturing data lineage events at 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800" cy="128016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" y="1755140"/>
            <a:ext cx="256540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Event-Driven Model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Every job run emits START / COMPLETE / FAIL events. Lineage is captured in real time, not reconstructed from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50800" cy="128016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0420" y="1755140"/>
            <a:ext cx="256540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Jobs + Datasets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Jobs (connectors, Flink statements) consume InputDatasets and produce OutputDatasets. Edges are implicit from events.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2743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50800" cy="128016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1755140"/>
            <a:ext cx="256540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Extensible via Facets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Core spec is lean. Any system can add custom facets (schema, throughput, SLA) without breaking consumers.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920240" cy="82296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260" y="3322320"/>
            <a:ext cx="18186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Job Run
Flink / Connect / ksqlDB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4100" y="3449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246120"/>
            <a:ext cx="1920240" cy="822960"/>
          </a:xfrm>
          <a:prstGeom prst="rect">
            <a:avLst/>
          </a:prstGeom>
          <a:solidFill>
            <a:srgbClr val="14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3820" y="3322320"/>
            <a:ext cx="18186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RunEvent
START / COMPLETE / FAIL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8660" y="3449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46120"/>
            <a:ext cx="1920240" cy="82296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380" y="3322320"/>
            <a:ext cx="18186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Lineage Backend
Marquez / DataHub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3220" y="34493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246120"/>
            <a:ext cx="1920240" cy="82296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2940" y="3322320"/>
            <a:ext cx="181864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Governance UI
Search · Impact ·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29494"/>
                </a:solidFill>
                <a:latin typeface="Inter"/>
              </a:rPr>
              <a:t>Any job type that reads/writes Kafka topics can emit OpenLineage events — bridging all components into a single unified lineage 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Bridge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A lightweight Python service that polls Confluent APIs and translates to OpenLineage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572768" cy="118872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260" y="1800860"/>
            <a:ext cx="1471168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Confluent APIs
Connect · Flink
Metrics · ksqlDB
Kafka REST · 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6628" y="20167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416" y="1737360"/>
            <a:ext cx="1572768" cy="118872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8916" y="1800860"/>
            <a:ext cx="1471168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LineageGraph
Unified edge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6284" y="20167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5072" y="1737360"/>
            <a:ext cx="1572768" cy="1188720"/>
          </a:xfrm>
          <a:prstGeom prst="rect">
            <a:avLst/>
          </a:prstGeom>
          <a:solidFill>
            <a:srgbClr val="14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8572" y="1800860"/>
            <a:ext cx="1471168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OL Mapper
Namespace · Facets
RunIds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5940" y="20167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8" y="1737360"/>
            <a:ext cx="1572768" cy="118872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228" y="1800860"/>
            <a:ext cx="1471168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Emitter
Diff-tracking
Parallel · ABORT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5596" y="201676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4384" y="1737360"/>
            <a:ext cx="1572768" cy="1188720"/>
          </a:xfrm>
          <a:prstGeom prst="rect">
            <a:avLst/>
          </a:prstGeom>
          <a:solidFill>
            <a:srgbClr val="040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7884" y="1800860"/>
            <a:ext cx="1471168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Inter"/>
              </a:rPr>
              <a:t>Marquez
or any OL 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9067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090672"/>
            <a:ext cx="50800" cy="132588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" y="3154172"/>
            <a:ext cx="2565400" cy="122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Diff-Tracking State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SQLite state store detects added and removed jobs. Removed jobs emit ABORT events — no stale lineage.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09067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090672"/>
            <a:ext cx="50800" cy="132588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6140" y="3154172"/>
            <a:ext cx="2565400" cy="122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Parallel Emission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All RunEvents emitted concurrently via a thread pool — scales to 10 000+ topics without blocking.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090672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090672"/>
            <a:ext cx="50800" cy="132588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2220" y="3154172"/>
            <a:ext cx="2565400" cy="122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Scheduled Pipeline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APScheduler drives periodic polling. run-once for snapshots, run for continuous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Five Lineage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Complete coverage of every Confluent component that moves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8778240" cy="301752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560" y="1729740"/>
            <a:ext cx="1661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53920" y="1729740"/>
            <a:ext cx="2164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API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4200" y="1729740"/>
            <a:ext cx="3124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What It Captures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94600" y="1729740"/>
            <a:ext cx="152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Job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87782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560" y="203149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Managed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3920" y="2031492"/>
            <a:ext cx="21386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api.confluent.cloud/connect/v1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2031492"/>
            <a:ext cx="30988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All managed source &amp; sink connectors in Confluent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4600" y="2031492"/>
            <a:ext cx="14986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SOURCE / SINK_CONNECTOR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59152"/>
            <a:ext cx="8778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560" y="239725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Flink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3920" y="2397252"/>
            <a:ext cx="21386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Flink REST API + SQL parser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4200" y="2397252"/>
            <a:ext cx="30988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Persistent statements; input/output topics parsed from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4600" y="2397252"/>
            <a:ext cx="14986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24912"/>
            <a:ext cx="87782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560" y="276301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Consumer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3920" y="2763012"/>
            <a:ext cx="21386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Metrics API consumer_lag_offsets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4200" y="2763012"/>
            <a:ext cx="30988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Any client committing offsets — the only cloud-plane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4600" y="2763012"/>
            <a:ext cx="14986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CONSUMER_GROUP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90672"/>
            <a:ext cx="87782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560" y="312877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ksqlDB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3920" y="3128772"/>
            <a:ext cx="21386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ksqlDB REST POST /ksql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4200" y="3128772"/>
            <a:ext cx="30988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Persistent CREATE STREAM / TABLE queries and their topic wiring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4600" y="3128772"/>
            <a:ext cx="14986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56432"/>
            <a:ext cx="87782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60" y="349453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Self-Managed 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53920" y="3494532"/>
            <a:ext cx="21386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GET {endpoint}/connectors?expand=info,…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4200" y="3494532"/>
            <a:ext cx="30988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On-prem / self-hosted Connect clusters alongside cloud topology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4600" y="3494532"/>
            <a:ext cx="149860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SOURCE / SINK_CONNECTOR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4164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0782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590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Lineage Sources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87168" y="404164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40782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146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4590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Tests Passing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8576" y="404164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6" y="40782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4590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Credentials for Tests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9984" y="4041648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29984" y="4078224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10k+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45902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Topics 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Live Demo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End-to-end lineage stitching four job types into a single directed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14884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820" y="1742440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Datagen Source Connector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691640"/>
            <a:ext cx="1737360" cy="402336"/>
          </a:xfrm>
          <a:prstGeom prst="rect">
            <a:avLst/>
          </a:prstGeom>
          <a:solidFill>
            <a:srgbClr val="E6F5FB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260" y="1742440"/>
            <a:ext cx="163576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ol-raw-orders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2148840" cy="402336"/>
          </a:xfrm>
          <a:prstGeom prst="rect">
            <a:avLst/>
          </a:prstGeom>
          <a:solidFill>
            <a:srgbClr val="FBE9E7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220" y="1742440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Java OrderProducer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783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304288"/>
            <a:ext cx="2148840" cy="402336"/>
          </a:xfrm>
          <a:prstGeom prst="rect">
            <a:avLst/>
          </a:prstGeom>
          <a:solidFill>
            <a:srgbClr val="E6F5E9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7900" y="2355088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Flink: ol-orders-enricher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04288"/>
            <a:ext cx="1828800" cy="402336"/>
          </a:xfrm>
          <a:prstGeom prst="rect">
            <a:avLst/>
          </a:prstGeom>
          <a:solidFill>
            <a:srgbClr val="E6F5FB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340" y="2355088"/>
            <a:ext cx="172720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ol-orders-enriched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24140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26080"/>
            <a:ext cx="2148840" cy="402336"/>
          </a:xfrm>
          <a:prstGeom prst="rect">
            <a:avLst/>
          </a:prstGeom>
          <a:solidFill>
            <a:srgbClr val="E6F5E9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820" y="2976880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Flink: ol-high-value-alerts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926080"/>
            <a:ext cx="1645920" cy="402336"/>
          </a:xfrm>
          <a:prstGeom prst="rect">
            <a:avLst/>
          </a:prstGeom>
          <a:solidFill>
            <a:srgbClr val="E6F5FB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260" y="2976880"/>
            <a:ext cx="154432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ol-high-value-alerts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926080"/>
            <a:ext cx="2148840" cy="402336"/>
          </a:xfrm>
          <a:prstGeom prst="rect">
            <a:avLst/>
          </a:prstGeom>
          <a:solidFill>
            <a:srgbClr val="E6F5E9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220" y="2976880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Flink: ol-medium-risk-orders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2926080"/>
            <a:ext cx="1828800" cy="402336"/>
          </a:xfrm>
          <a:prstGeom prst="rect">
            <a:avLst/>
          </a:prstGeom>
          <a:solidFill>
            <a:srgbClr val="E6F5FB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8660" y="2976880"/>
            <a:ext cx="172720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ol-medium-risk-orders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27340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30358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03580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547872"/>
            <a:ext cx="214884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900" y="3598672"/>
            <a:ext cx="204724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HTTP Sink Connector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547872"/>
            <a:ext cx="2468880" cy="402336"/>
          </a:xfrm>
          <a:prstGeom prst="rect">
            <a:avLst/>
          </a:prstGeom>
          <a:solidFill>
            <a:srgbClr val="F3E5F5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95420" y="3598672"/>
            <a:ext cx="2367280" cy="326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73361"/>
                </a:solidFill>
                <a:latin typeface="Inter"/>
              </a:rPr>
              <a:t>Consumer Group: connect-lcc-*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81528" y="3657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657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3649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29494"/>
                </a:solidFill>
                <a:latin typeface="Inter"/>
              </a:rPr>
              <a:t>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242816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29494"/>
                </a:solidFill>
                <a:latin typeface="Inter"/>
              </a:rPr>
              <a:t>Orange = Connect    Blue = Kafka Topic    Green = Flink    Purple = Consumer Group    Red = Java Producer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Rich Topic Metadata via Custom Facets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Topics carry schema, physical config, and live throughput — all queryable in the lineage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800" cy="1078992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" y="1755140"/>
            <a:ext cx="3662680" cy="97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Schema Facet (SchemaDatasetFacet)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Key and value subjects from Schema Registry merged into key.* / value.* prefixed fields. Supports AVRO, JSON Schema, Protobuf.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0800" cy="1078992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" y="2943860"/>
            <a:ext cx="3662680" cy="97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KafkaTopicDatasetFacet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Partition count, replication factor, and internal-topic flag fetched from Kafka REST. Mirrors Confluent Stream Lineage topic nodes.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69080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069080"/>
            <a:ext cx="50800" cy="1078992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" y="4132580"/>
            <a:ext cx="3662680" cy="977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KafkaTopicThroughputDatasetFacet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Bytes in/out and records in/out over a configurable lookback window from the Metrics API. Enables data-volume impact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691640"/>
            <a:ext cx="4526280" cy="333756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1810512"/>
            <a:ext cx="432511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6F7F7"/>
                </a:solidFill>
                <a:latin typeface="Courier New"/>
              </a:rPr>
              <a:t># Facets on ol-orders-enriched
schema:
  fields:
    - name: value.order_id   type: string
    - name: value.amount     type: double
    - name: value.customer   type: string
    - name: key.order_id     type: string
kafkaTopic:
  partitions:        6
  replicationFactor: 3
kafkaThroughput:
  bytesIn:       1_482_304
  recordsIn:     12_400
  windowMinutes: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Namespace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Every job and dataset receives a stable, globally unique identifier in the OpenLineage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8321040" cy="301752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560" y="1729740"/>
            <a:ext cx="1935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8240" y="1729740"/>
            <a:ext cx="2484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OL Job Namespace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8560" y="1729740"/>
            <a:ext cx="1935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OL Job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240" y="1729740"/>
            <a:ext cx="1661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processingType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83210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560" y="203149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Managed Connector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240" y="203149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kafka-connect://&lt;env_id&gt;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8560" y="203149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&lt;connector_name&gt;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240" y="203149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59152"/>
            <a:ext cx="8321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560" y="239725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Self-Managed Connector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240" y="239725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kafka-connect://&lt;cluster_label&gt;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8560" y="239725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&lt;connector_name&gt;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240" y="239725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24912"/>
            <a:ext cx="83210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560" y="276301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Flink Statement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8240" y="276301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flink://&lt;env_id&gt;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8560" y="276301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&lt;statement_name&gt;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240" y="276301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90672"/>
            <a:ext cx="8321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560" y="312877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Consumer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8240" y="312877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kafka-consumer-group://&lt;cluster&gt;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60" y="312877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&lt;group_id&gt;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0240" y="312877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456432"/>
            <a:ext cx="83210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60" y="349453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ksqlDB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8240" y="349453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ksqldb://&lt;ksql_cluster_id&gt;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8560" y="349453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&lt;query_id&gt;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0240" y="349453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822192"/>
            <a:ext cx="8321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560" y="386029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Java SDK Producer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8240" y="386029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kafka-producer://&lt;service_name&gt;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8560" y="386029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&lt;job_name&gt;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0240" y="386029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STREAMING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87952"/>
            <a:ext cx="8321040" cy="36576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560" y="422605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3361"/>
                </a:solidFill>
                <a:latin typeface="Inter"/>
              </a:rPr>
              <a:t>Kafka Topic (Dataset)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8240" y="4226052"/>
            <a:ext cx="245872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kafka://&lt;bootstrap_server&gt;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8560" y="4226052"/>
            <a:ext cx="191008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&lt;topic_name&gt;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0240" y="4226052"/>
            <a:ext cx="1635760" cy="31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096512"/>
            <a:ext cx="8412480" cy="713232"/>
          </a:xfrm>
          <a:prstGeom prst="rect">
            <a:avLst/>
          </a:prstGeom>
          <a:solidFill>
            <a:srgbClr val="E6F5FB"/>
          </a:solidFill>
          <a:ln w="6350">
            <a:solidFill>
              <a:srgbClr val="01C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096512"/>
            <a:ext cx="50800" cy="713232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2064" y="4133087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73361"/>
                </a:solidFill>
                <a:latin typeface="Inter"/>
              </a:rPr>
              <a:t>Stable RunIDs are derived deterministically from namespace + name + cycle_key via SHA-256 — ensuring the same job maps to the same run across polling cycles, preventing duplicate lineage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Simple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One config file, three CLI commands — no code changes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4251960" cy="3337560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04164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6F7F7"/>
                </a:solidFill>
                <a:latin typeface="Courier New"/>
              </a:rPr>
              <a:t># config.yaml
confluent:
  api_key:    MRYYEBG4MF6FM2BP
  api_secret: ***
  env_id:     env-m2qxq
  cluster_id: lkc-1j6rd3
  schema_registry:
    endpoint: https://psrc-….confluent.cloud
    api_key:  BPYPBFCQOV6A63XQ
  kafka_rest:
    endpoint: https://pkc-….confluent.cloud
    api_key:  JBFEOVMJA543R4MK
openlineage:
  backend_url:     http://localhost:5000
  kafka_bootstrap: pkc-pgq85…:9092
  interval_sec:    60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91640"/>
            <a:ext cx="3977639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691640"/>
            <a:ext cx="50800" cy="768096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0620" y="1755140"/>
            <a:ext cx="3799839" cy="666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ol-confluent validate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Checks all credentials and API connectivity before any data is emitted. Fast pre-flight for CI/CD.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569464"/>
            <a:ext cx="3977639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2569464"/>
            <a:ext cx="50800" cy="768096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0620" y="2632964"/>
            <a:ext cx="3799839" cy="666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ol-confluent run-once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Fetches the full topology snapshot and emits all RunEvents once. Ideal for scheduled jobs or demos.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447288"/>
            <a:ext cx="3977639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3447288"/>
            <a:ext cx="50800" cy="768096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0620" y="3510788"/>
            <a:ext cx="3799839" cy="666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ol-confluent run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Continuous polling on the configured interval. Detects added and removed jobs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325112"/>
            <a:ext cx="3977639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4325112"/>
            <a:ext cx="50800" cy="768096"/>
          </a:xfrm>
          <a:prstGeom prst="rect">
            <a:avLst/>
          </a:prstGeom>
          <a:solidFill>
            <a:srgbClr val="82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0620" y="4388612"/>
            <a:ext cx="3799839" cy="666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Docker Compose Ready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Marquez backend + Web UI included. One docker compose up -d to start the full stack.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Results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What the bridge delivers out of the box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282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Lineage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16916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7282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240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Job Types Identified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6916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7282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240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Custom Facets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9984" y="1691640"/>
            <a:ext cx="1965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1728216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4E4"/>
                </a:solidFill>
                <a:latin typeface="Inter"/>
              </a:rPr>
              <a:t>146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22402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29494"/>
                </a:solidFill>
                <a:latin typeface="Inter"/>
              </a:rPr>
              <a:t>Tests (all offline)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07208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07208"/>
            <a:ext cx="50800" cy="1280160"/>
          </a:xfrm>
          <a:prstGeom prst="rect">
            <a:avLst/>
          </a:prstGeom>
          <a:solidFill>
            <a:srgbClr val="11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" y="2870708"/>
            <a:ext cx="411988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Full End-to-End Graph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Connector → Topic → Flink → Topic → Sink rendered as a single navigable lineage graph. Depth-4 view shows the complete data flow in one screen.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807208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807208"/>
            <a:ext cx="50800" cy="1280160"/>
          </a:xfrm>
          <a:prstGeom prst="rect">
            <a:avLst/>
          </a:prstGeom>
          <a:solidFill>
            <a:srgbClr val="11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0620" y="2870708"/>
            <a:ext cx="411988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Schema Propagation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AVRO / JSON Schema / Protobuf field lists from Schema Registry attached to every topic dataset — enabling column-level impact analysis.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97096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97096"/>
            <a:ext cx="50800" cy="128016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" y="4260596"/>
            <a:ext cx="411988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Stale Lineage Detection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Deleted or stopped jobs emit ABORT events automatically. The lineage graph stays current without manual intervention.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197096"/>
            <a:ext cx="4297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4197096"/>
            <a:ext cx="50800" cy="128016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0620" y="4260596"/>
            <a:ext cx="4119880" cy="1178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Java SDK Integration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The included OrderProducer demo shows how any Java Kafka client can self-instrument START / COMPLETE events using the OpenLineage Java SDK.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Inter"/>
              </a:rPr>
              <a:t>Roadmap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6F7F7"/>
                </a:solidFill>
                <a:latin typeface="Inter"/>
              </a:rPr>
              <a:t>Prioritized extensions to expand coverage and ecosystem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0800" cy="155448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" y="1755140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Flink SQL UDTF Scanner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Extend the SQL parser to extract field-level lineage from Flink UDTFs — enabling column-level impact graphs.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691640"/>
            <a:ext cx="50800" cy="1554480"/>
          </a:xfrm>
          <a:prstGeom prst="rect">
            <a:avLst/>
          </a:prstGeom>
          <a:solidFill>
            <a:srgbClr val="00A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1755140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Producer Auto-Discovery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Correlate Kafka client metrics with application metadata to identify individual producers without SDK instrumentation.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0800" cy="155448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2220" y="1755140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DataHub &amp; Apache Atlas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Swap Marquez for DataHub or Apache Atlas by changing a single backend_url line in config.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55848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55848"/>
            <a:ext cx="50800" cy="155448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" y="3419348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Helm Chart / Operator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Package as a Kubernetes Helm chart for one-command deployment alongside Confluent Platform or CFK.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355848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3355848"/>
            <a:ext cx="50800" cy="155448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6140" y="3419348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Change Notifications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Emit Slack / PagerDuty alerts when a high-value topic loses its producer or consumer lag exceeds a threshold.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55848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355848"/>
            <a:ext cx="50800" cy="1554480"/>
          </a:xfrm>
          <a:prstGeom prst="rect">
            <a:avLst/>
          </a:prstGeom>
          <a:solidFill>
            <a:srgbClr val="173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2220" y="3419348"/>
            <a:ext cx="2565400" cy="14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73361"/>
                </a:solidFill>
                <a:latin typeface="Inter"/>
              </a:rPr>
              <a:t>Multi-Environment Support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" b="0">
                <a:solidFill>
                  <a:srgbClr val="173361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73361"/>
                </a:solidFill>
                <a:latin typeface="Inter"/>
              </a:rPr>
              <a:t>Single bridge instance polling multiple Confluent environments — unified lineage across dev, staging, and prod.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D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3500"/>
          </a:xfrm>
          <a:prstGeom prst="rect">
            <a:avLst/>
          </a:prstGeom>
          <a:solidFill>
            <a:srgbClr val="01C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Inter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6F7F7"/>
                </a:solidFill>
                <a:latin typeface="Inter"/>
              </a:rPr>
              <a:t>OpenLineage Bridge for Confluent Cloud
Complete end-to-end data lineage across every component of your streaming data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1CEDB"/>
                </a:solidFill>
                <a:latin typeface="Inter"/>
              </a:rPr>
              <a:t>openlineage.io   ·   confluent.io/product/flink   ·   marquezproject.ai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